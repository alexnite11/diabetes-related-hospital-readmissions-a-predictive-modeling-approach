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43891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p:scale>
          <a:sx n="20" d="100"/>
          <a:sy n="20" d="100"/>
        </p:scale>
        <p:origin x="10"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5387342"/>
            <a:ext cx="37307520" cy="11460480"/>
          </a:xfrm>
        </p:spPr>
        <p:txBody>
          <a:bodyPr anchor="b"/>
          <a:lstStyle>
            <a:lvl1pPr algn="ctr">
              <a:defRPr sz="28800"/>
            </a:lvl1pPr>
          </a:lstStyle>
          <a:p>
            <a:r>
              <a:rPr lang="en-US"/>
              <a:t>Click to edit Master title style</a:t>
            </a:r>
            <a:endParaRPr lang="en-US" dirty="0"/>
          </a:p>
        </p:txBody>
      </p:sp>
      <p:sp>
        <p:nvSpPr>
          <p:cNvPr id="3" name="Subtitle 2"/>
          <p:cNvSpPr>
            <a:spLocks noGrp="1"/>
          </p:cNvSpPr>
          <p:nvPr>
            <p:ph type="subTitle" idx="1"/>
          </p:nvPr>
        </p:nvSpPr>
        <p:spPr>
          <a:xfrm>
            <a:off x="5486400" y="17289782"/>
            <a:ext cx="32918400" cy="7947658"/>
          </a:xfrm>
        </p:spPr>
        <p:txBody>
          <a:bodyPr/>
          <a:lstStyle>
            <a:lvl1pPr marL="0" indent="0" algn="ctr">
              <a:buNone/>
              <a:defRPr sz="11520"/>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2CE43F9-177E-4A34-950C-ED1DBD053B85}"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9EA99B-AE7A-4E42-AC55-3740A28D66D3}" type="slidenum">
              <a:rPr lang="en-US" smtClean="0"/>
              <a:t>‹#›</a:t>
            </a:fld>
            <a:endParaRPr lang="en-US"/>
          </a:p>
        </p:txBody>
      </p:sp>
    </p:spTree>
    <p:extLst>
      <p:ext uri="{BB962C8B-B14F-4D97-AF65-F5344CB8AC3E}">
        <p14:creationId xmlns:p14="http://schemas.microsoft.com/office/powerpoint/2010/main" val="29612559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CE43F9-177E-4A34-950C-ED1DBD053B85}"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9EA99B-AE7A-4E42-AC55-3740A28D66D3}" type="slidenum">
              <a:rPr lang="en-US" smtClean="0"/>
              <a:t>‹#›</a:t>
            </a:fld>
            <a:endParaRPr lang="en-US"/>
          </a:p>
        </p:txBody>
      </p:sp>
    </p:spTree>
    <p:extLst>
      <p:ext uri="{BB962C8B-B14F-4D97-AF65-F5344CB8AC3E}">
        <p14:creationId xmlns:p14="http://schemas.microsoft.com/office/powerpoint/2010/main" val="1833638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662" y="8206749"/>
            <a:ext cx="37856160" cy="13693138"/>
          </a:xfrm>
        </p:spPr>
        <p:txBody>
          <a:bodyPr anchor="b"/>
          <a:lstStyle>
            <a:lvl1pPr>
              <a:defRPr sz="28800"/>
            </a:lvl1pPr>
          </a:lstStyle>
          <a:p>
            <a:r>
              <a:rPr lang="en-US"/>
              <a:t>Click to edit Master title style</a:t>
            </a:r>
            <a:endParaRPr lang="en-US" dirty="0"/>
          </a:p>
        </p:txBody>
      </p:sp>
      <p:sp>
        <p:nvSpPr>
          <p:cNvPr id="3" name="Text Placeholder 2"/>
          <p:cNvSpPr>
            <a:spLocks noGrp="1"/>
          </p:cNvSpPr>
          <p:nvPr>
            <p:ph type="body" idx="1"/>
          </p:nvPr>
        </p:nvSpPr>
        <p:spPr>
          <a:xfrm>
            <a:off x="2994662" y="22029429"/>
            <a:ext cx="37856160" cy="7200898"/>
          </a:xfrm>
        </p:spPr>
        <p:txBody>
          <a:bodyPr/>
          <a:lstStyle>
            <a:lvl1pPr marL="0" indent="0">
              <a:buNone/>
              <a:defRPr sz="11520">
                <a:solidFill>
                  <a:schemeClr val="tx1">
                    <a:tint val="82000"/>
                  </a:schemeClr>
                </a:solidFill>
              </a:defRPr>
            </a:lvl1pPr>
            <a:lvl2pPr marL="2194560" indent="0">
              <a:buNone/>
              <a:defRPr sz="9600">
                <a:solidFill>
                  <a:schemeClr val="tx1">
                    <a:tint val="82000"/>
                  </a:schemeClr>
                </a:solidFill>
              </a:defRPr>
            </a:lvl2pPr>
            <a:lvl3pPr marL="4389120" indent="0">
              <a:buNone/>
              <a:defRPr sz="8640">
                <a:solidFill>
                  <a:schemeClr val="tx1">
                    <a:tint val="82000"/>
                  </a:schemeClr>
                </a:solidFill>
              </a:defRPr>
            </a:lvl3pPr>
            <a:lvl4pPr marL="6583680" indent="0">
              <a:buNone/>
              <a:defRPr sz="7680">
                <a:solidFill>
                  <a:schemeClr val="tx1">
                    <a:tint val="82000"/>
                  </a:schemeClr>
                </a:solidFill>
              </a:defRPr>
            </a:lvl4pPr>
            <a:lvl5pPr marL="8778240" indent="0">
              <a:buNone/>
              <a:defRPr sz="7680">
                <a:solidFill>
                  <a:schemeClr val="tx1">
                    <a:tint val="82000"/>
                  </a:schemeClr>
                </a:solidFill>
              </a:defRPr>
            </a:lvl5pPr>
            <a:lvl6pPr marL="10972800" indent="0">
              <a:buNone/>
              <a:defRPr sz="7680">
                <a:solidFill>
                  <a:schemeClr val="tx1">
                    <a:tint val="82000"/>
                  </a:schemeClr>
                </a:solidFill>
              </a:defRPr>
            </a:lvl6pPr>
            <a:lvl7pPr marL="13167360" indent="0">
              <a:buNone/>
              <a:defRPr sz="7680">
                <a:solidFill>
                  <a:schemeClr val="tx1">
                    <a:tint val="82000"/>
                  </a:schemeClr>
                </a:solidFill>
              </a:defRPr>
            </a:lvl7pPr>
            <a:lvl8pPr marL="15361920" indent="0">
              <a:buNone/>
              <a:defRPr sz="7680">
                <a:solidFill>
                  <a:schemeClr val="tx1">
                    <a:tint val="82000"/>
                  </a:schemeClr>
                </a:solidFill>
              </a:defRPr>
            </a:lvl8pPr>
            <a:lvl9pPr marL="17556480" indent="0">
              <a:buNone/>
              <a:defRPr sz="768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CE43F9-177E-4A34-950C-ED1DBD053B85}"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9EA99B-AE7A-4E42-AC55-3740A28D66D3}" type="slidenum">
              <a:rPr lang="en-US" smtClean="0"/>
              <a:t>‹#›</a:t>
            </a:fld>
            <a:endParaRPr lang="en-US"/>
          </a:p>
        </p:txBody>
      </p:sp>
    </p:spTree>
    <p:extLst>
      <p:ext uri="{BB962C8B-B14F-4D97-AF65-F5344CB8AC3E}">
        <p14:creationId xmlns:p14="http://schemas.microsoft.com/office/powerpoint/2010/main" val="15442317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0175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22199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2CE43F9-177E-4A34-950C-ED1DBD053B85}" type="datetimeFigureOut">
              <a:rPr lang="en-US" smtClean="0"/>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9EA99B-AE7A-4E42-AC55-3740A28D66D3}" type="slidenum">
              <a:rPr lang="en-US" smtClean="0"/>
              <a:t>‹#›</a:t>
            </a:fld>
            <a:endParaRPr lang="en-US"/>
          </a:p>
        </p:txBody>
      </p:sp>
    </p:spTree>
    <p:extLst>
      <p:ext uri="{BB962C8B-B14F-4D97-AF65-F5344CB8AC3E}">
        <p14:creationId xmlns:p14="http://schemas.microsoft.com/office/powerpoint/2010/main" val="3413291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3237" y="1752607"/>
            <a:ext cx="37856160" cy="6362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023242" y="8069582"/>
            <a:ext cx="18568032"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4" name="Content Placeholder 3"/>
          <p:cNvSpPr>
            <a:spLocks noGrp="1"/>
          </p:cNvSpPr>
          <p:nvPr>
            <p:ph sz="half" idx="2"/>
          </p:nvPr>
        </p:nvSpPr>
        <p:spPr>
          <a:xfrm>
            <a:off x="3023242" y="12024360"/>
            <a:ext cx="18568032"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2219922" y="8069582"/>
            <a:ext cx="18659477"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6" name="Content Placeholder 5"/>
          <p:cNvSpPr>
            <a:spLocks noGrp="1"/>
          </p:cNvSpPr>
          <p:nvPr>
            <p:ph sz="quarter" idx="4"/>
          </p:nvPr>
        </p:nvSpPr>
        <p:spPr>
          <a:xfrm>
            <a:off x="22219922" y="12024360"/>
            <a:ext cx="18659477"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2CE43F9-177E-4A34-950C-ED1DBD053B85}" type="datetimeFigureOut">
              <a:rPr lang="en-US" smtClean="0"/>
              <a:t>12/1/2025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09EA99B-AE7A-4E42-AC55-3740A28D66D3}" type="slidenum">
              <a:rPr lang="en-US" smtClean="0"/>
              <a:t>‹#›</a:t>
            </a:fld>
            <a:endParaRPr lang="en-US"/>
          </a:p>
        </p:txBody>
      </p:sp>
    </p:spTree>
    <p:extLst>
      <p:ext uri="{BB962C8B-B14F-4D97-AF65-F5344CB8AC3E}">
        <p14:creationId xmlns:p14="http://schemas.microsoft.com/office/powerpoint/2010/main" val="40656283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2CE43F9-177E-4A34-950C-ED1DBD053B85}" type="datetimeFigureOut">
              <a:rPr lang="en-US" smtClean="0"/>
              <a:t>12/1/2025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09EA99B-AE7A-4E42-AC55-3740A28D66D3}" type="slidenum">
              <a:rPr lang="en-US" smtClean="0"/>
              <a:t>‹#›</a:t>
            </a:fld>
            <a:endParaRPr lang="en-US"/>
          </a:p>
        </p:txBody>
      </p:sp>
    </p:spTree>
    <p:extLst>
      <p:ext uri="{BB962C8B-B14F-4D97-AF65-F5344CB8AC3E}">
        <p14:creationId xmlns:p14="http://schemas.microsoft.com/office/powerpoint/2010/main" val="29693817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CE43F9-177E-4A34-950C-ED1DBD053B85}" type="datetimeFigureOut">
              <a:rPr lang="en-US" smtClean="0"/>
              <a:t>12/1/2025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09EA99B-AE7A-4E42-AC55-3740A28D66D3}" type="slidenum">
              <a:rPr lang="en-US" smtClean="0"/>
              <a:t>‹#›</a:t>
            </a:fld>
            <a:endParaRPr lang="en-US"/>
          </a:p>
        </p:txBody>
      </p:sp>
    </p:spTree>
    <p:extLst>
      <p:ext uri="{BB962C8B-B14F-4D97-AF65-F5344CB8AC3E}">
        <p14:creationId xmlns:p14="http://schemas.microsoft.com/office/powerpoint/2010/main" val="27846696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Content Placeholder 2"/>
          <p:cNvSpPr>
            <a:spLocks noGrp="1"/>
          </p:cNvSpPr>
          <p:nvPr>
            <p:ph idx="1"/>
          </p:nvPr>
        </p:nvSpPr>
        <p:spPr>
          <a:xfrm>
            <a:off x="18659477" y="4739647"/>
            <a:ext cx="22219920" cy="23393400"/>
          </a:xfrm>
        </p:spPr>
        <p:txBody>
          <a:bodyPr/>
          <a:lstStyle>
            <a:lvl1pPr>
              <a:defRPr sz="15360"/>
            </a:lvl1pPr>
            <a:lvl2pPr>
              <a:defRPr sz="13440"/>
            </a:lvl2pPr>
            <a:lvl3pPr>
              <a:defRPr sz="11520"/>
            </a:lvl3pPr>
            <a:lvl4pPr>
              <a:defRPr sz="9600"/>
            </a:lvl4pPr>
            <a:lvl5pPr>
              <a:defRPr sz="9600"/>
            </a:lvl5pPr>
            <a:lvl6pPr>
              <a:defRPr sz="9600"/>
            </a:lvl6pPr>
            <a:lvl7pPr>
              <a:defRPr sz="9600"/>
            </a:lvl7pPr>
            <a:lvl8pPr>
              <a:defRPr sz="9600"/>
            </a:lvl8pPr>
            <a:lvl9pPr>
              <a:defRPr sz="9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32CE43F9-177E-4A34-950C-ED1DBD053B85}" type="datetimeFigureOut">
              <a:rPr lang="en-US" smtClean="0"/>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9EA99B-AE7A-4E42-AC55-3740A28D66D3}" type="slidenum">
              <a:rPr lang="en-US" smtClean="0"/>
              <a:t>‹#›</a:t>
            </a:fld>
            <a:endParaRPr lang="en-US"/>
          </a:p>
        </p:txBody>
      </p:sp>
    </p:spTree>
    <p:extLst>
      <p:ext uri="{BB962C8B-B14F-4D97-AF65-F5344CB8AC3E}">
        <p14:creationId xmlns:p14="http://schemas.microsoft.com/office/powerpoint/2010/main" val="26068750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Picture Placeholder 2"/>
          <p:cNvSpPr>
            <a:spLocks noGrp="1" noChangeAspect="1"/>
          </p:cNvSpPr>
          <p:nvPr>
            <p:ph type="pic" idx="1"/>
          </p:nvPr>
        </p:nvSpPr>
        <p:spPr>
          <a:xfrm>
            <a:off x="18659477" y="4739647"/>
            <a:ext cx="22219920" cy="23393400"/>
          </a:xfrm>
        </p:spPr>
        <p:txBody>
          <a:bodyPr anchor="t"/>
          <a:lstStyle>
            <a:lvl1pPr marL="0" indent="0">
              <a:buNone/>
              <a:defRPr sz="15360"/>
            </a:lvl1pPr>
            <a:lvl2pPr marL="2194560" indent="0">
              <a:buNone/>
              <a:defRPr sz="13440"/>
            </a:lvl2pPr>
            <a:lvl3pPr marL="4389120" indent="0">
              <a:buNone/>
              <a:defRPr sz="1152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r>
              <a:rPr lang="en-US"/>
              <a:t>Click icon to add picture</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32CE43F9-177E-4A34-950C-ED1DBD053B85}" type="datetimeFigureOut">
              <a:rPr lang="en-US" smtClean="0"/>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9EA99B-AE7A-4E42-AC55-3740A28D66D3}" type="slidenum">
              <a:rPr lang="en-US" smtClean="0"/>
              <a:t>‹#›</a:t>
            </a:fld>
            <a:endParaRPr lang="en-US"/>
          </a:p>
        </p:txBody>
      </p:sp>
    </p:spTree>
    <p:extLst>
      <p:ext uri="{BB962C8B-B14F-4D97-AF65-F5344CB8AC3E}">
        <p14:creationId xmlns:p14="http://schemas.microsoft.com/office/powerpoint/2010/main" val="28729189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CE43F9-177E-4A34-950C-ED1DBD053B85}"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9EA99B-AE7A-4E42-AC55-3740A28D66D3}" type="slidenum">
              <a:rPr lang="en-US" smtClean="0"/>
              <a:t>‹#›</a:t>
            </a:fld>
            <a:endParaRPr lang="en-US"/>
          </a:p>
        </p:txBody>
      </p:sp>
    </p:spTree>
    <p:extLst>
      <p:ext uri="{BB962C8B-B14F-4D97-AF65-F5344CB8AC3E}">
        <p14:creationId xmlns:p14="http://schemas.microsoft.com/office/powerpoint/2010/main" val="6043811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409642" y="1752600"/>
            <a:ext cx="9464040" cy="278968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017522" y="1752600"/>
            <a:ext cx="27843480" cy="27896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CE43F9-177E-4A34-950C-ED1DBD053B85}"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9EA99B-AE7A-4E42-AC55-3740A28D66D3}" type="slidenum">
              <a:rPr lang="en-US" smtClean="0"/>
              <a:t>‹#›</a:t>
            </a:fld>
            <a:endParaRPr lang="en-US"/>
          </a:p>
        </p:txBody>
      </p:sp>
    </p:spTree>
    <p:extLst>
      <p:ext uri="{BB962C8B-B14F-4D97-AF65-F5344CB8AC3E}">
        <p14:creationId xmlns:p14="http://schemas.microsoft.com/office/powerpoint/2010/main" val="25384664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17520" y="1752607"/>
            <a:ext cx="37856160" cy="6362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017520" y="8763000"/>
            <a:ext cx="37856160" cy="20886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017520" y="30510487"/>
            <a:ext cx="9875520" cy="1752600"/>
          </a:xfrm>
          <a:prstGeom prst="rect">
            <a:avLst/>
          </a:prstGeom>
        </p:spPr>
        <p:txBody>
          <a:bodyPr vert="horz" lIns="91440" tIns="45720" rIns="91440" bIns="45720" rtlCol="0" anchor="ctr"/>
          <a:lstStyle>
            <a:lvl1pPr algn="l">
              <a:defRPr sz="5760">
                <a:solidFill>
                  <a:schemeClr val="tx1">
                    <a:tint val="82000"/>
                  </a:schemeClr>
                </a:solidFill>
              </a:defRPr>
            </a:lvl1pPr>
          </a:lstStyle>
          <a:p>
            <a:fld id="{32CE43F9-177E-4A34-950C-ED1DBD053B85}" type="datetimeFigureOut">
              <a:rPr lang="en-US" smtClean="0"/>
              <a:t>12/1/2025</a:t>
            </a:fld>
            <a:endParaRPr lang="en-US"/>
          </a:p>
        </p:txBody>
      </p:sp>
      <p:sp>
        <p:nvSpPr>
          <p:cNvPr id="5" name="Footer Placeholder 4"/>
          <p:cNvSpPr>
            <a:spLocks noGrp="1"/>
          </p:cNvSpPr>
          <p:nvPr>
            <p:ph type="ftr" sz="quarter" idx="3"/>
          </p:nvPr>
        </p:nvSpPr>
        <p:spPr>
          <a:xfrm>
            <a:off x="14538960" y="30510487"/>
            <a:ext cx="14813280" cy="1752600"/>
          </a:xfrm>
          <a:prstGeom prst="rect">
            <a:avLst/>
          </a:prstGeom>
        </p:spPr>
        <p:txBody>
          <a:bodyPr vert="horz" lIns="91440" tIns="45720" rIns="91440" bIns="45720" rtlCol="0" anchor="ctr"/>
          <a:lstStyle>
            <a:lvl1pPr algn="ctr">
              <a:defRPr sz="576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30998160" y="30510487"/>
            <a:ext cx="9875520" cy="1752600"/>
          </a:xfrm>
          <a:prstGeom prst="rect">
            <a:avLst/>
          </a:prstGeom>
        </p:spPr>
        <p:txBody>
          <a:bodyPr vert="horz" lIns="91440" tIns="45720" rIns="91440" bIns="45720" rtlCol="0" anchor="ctr"/>
          <a:lstStyle>
            <a:lvl1pPr algn="r">
              <a:defRPr sz="5760">
                <a:solidFill>
                  <a:schemeClr val="tx1">
                    <a:tint val="82000"/>
                  </a:schemeClr>
                </a:solidFill>
              </a:defRPr>
            </a:lvl1pPr>
          </a:lstStyle>
          <a:p>
            <a:fld id="{B09EA99B-AE7A-4E42-AC55-3740A28D66D3}" type="slidenum">
              <a:rPr lang="en-US" smtClean="0"/>
              <a:t>‹#›</a:t>
            </a:fld>
            <a:endParaRPr lang="en-US"/>
          </a:p>
        </p:txBody>
      </p:sp>
    </p:spTree>
    <p:extLst>
      <p:ext uri="{BB962C8B-B14F-4D97-AF65-F5344CB8AC3E}">
        <p14:creationId xmlns:p14="http://schemas.microsoft.com/office/powerpoint/2010/main" val="41400823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389120" rtl="0" eaLnBrk="1" latinLnBrk="0" hangingPunct="1">
        <a:lnSpc>
          <a:spcPct val="90000"/>
        </a:lnSpc>
        <a:spcBef>
          <a:spcPct val="0"/>
        </a:spcBef>
        <a:buNone/>
        <a:defRPr sz="21120" kern="1200">
          <a:solidFill>
            <a:schemeClr val="tx1"/>
          </a:solidFill>
          <a:latin typeface="+mj-lt"/>
          <a:ea typeface="+mj-ea"/>
          <a:cs typeface="+mj-cs"/>
        </a:defRPr>
      </a:lvl1pPr>
    </p:titleStyle>
    <p:bodyStyle>
      <a:lvl1pPr marL="1097280" indent="-1097280" algn="l" defTabSz="4389120"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1840" indent="-1097280" algn="l" defTabSz="4389120"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6400" indent="-1097280" algn="l" defTabSz="4389120"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809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552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 name="Rectangle 55">
            <a:extLst>
              <a:ext uri="{FF2B5EF4-FFF2-40B4-BE49-F238E27FC236}">
                <a16:creationId xmlns:a16="http://schemas.microsoft.com/office/drawing/2014/main" id="{8524CEBD-C847-9B2E-1CF0-819E6EAFD4EC}"/>
              </a:ext>
            </a:extLst>
          </p:cNvPr>
          <p:cNvSpPr/>
          <p:nvPr/>
        </p:nvSpPr>
        <p:spPr>
          <a:xfrm>
            <a:off x="22270488" y="4129433"/>
            <a:ext cx="20997115" cy="19111567"/>
          </a:xfrm>
          <a:prstGeom prst="rect">
            <a:avLst/>
          </a:prstGeom>
          <a:solidFill>
            <a:schemeClr val="bg1"/>
          </a:solidFill>
          <a:ln w="2857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4558CB03-9A81-4C23-B24F-BB207ABC3841}"/>
              </a:ext>
            </a:extLst>
          </p:cNvPr>
          <p:cNvSpPr/>
          <p:nvPr/>
        </p:nvSpPr>
        <p:spPr>
          <a:xfrm>
            <a:off x="912810" y="17580676"/>
            <a:ext cx="17969152" cy="15153531"/>
          </a:xfrm>
          <a:prstGeom prst="rect">
            <a:avLst/>
          </a:prstGeom>
          <a:solidFill>
            <a:schemeClr val="bg1"/>
          </a:solidFill>
          <a:ln w="2857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CF7EA9C-11B6-E72F-9D85-14251BB8DDFC}"/>
              </a:ext>
            </a:extLst>
          </p:cNvPr>
          <p:cNvSpPr txBox="1"/>
          <p:nvPr/>
        </p:nvSpPr>
        <p:spPr>
          <a:xfrm>
            <a:off x="7315200" y="301301"/>
            <a:ext cx="29260800" cy="2785378"/>
          </a:xfrm>
          <a:prstGeom prst="rect">
            <a:avLst/>
          </a:prstGeom>
          <a:noFill/>
        </p:spPr>
        <p:txBody>
          <a:bodyPr wrap="square" rtlCol="0">
            <a:spAutoFit/>
          </a:bodyPr>
          <a:lstStyle/>
          <a:p>
            <a:pPr algn="ctr"/>
            <a:r>
              <a:rPr lang="en-US" sz="7500" b="1" dirty="0">
                <a:solidFill>
                  <a:schemeClr val="tx2"/>
                </a:solidFill>
                <a:latin typeface="Times New Roman" panose="02020603050405020304" pitchFamily="18" charset="0"/>
                <a:cs typeface="Times New Roman" panose="02020603050405020304" pitchFamily="18" charset="0"/>
              </a:rPr>
              <a:t>Diabetes Related Hospital Readmissions: A Predictive Approach</a:t>
            </a:r>
          </a:p>
          <a:p>
            <a:pPr algn="ctr"/>
            <a:r>
              <a:rPr lang="en-US" sz="6000" b="1" dirty="0">
                <a:solidFill>
                  <a:schemeClr val="tx2"/>
                </a:solidFill>
                <a:latin typeface="Times New Roman" panose="02020603050405020304" pitchFamily="18" charset="0"/>
                <a:cs typeface="Times New Roman" panose="02020603050405020304" pitchFamily="18" charset="0"/>
              </a:rPr>
              <a:t>Author:</a:t>
            </a:r>
            <a:r>
              <a:rPr lang="en-US" sz="6000" dirty="0">
                <a:solidFill>
                  <a:schemeClr val="tx2"/>
                </a:solidFill>
                <a:latin typeface="Times New Roman" panose="02020603050405020304" pitchFamily="18" charset="0"/>
                <a:cs typeface="Times New Roman" panose="02020603050405020304" pitchFamily="18" charset="0"/>
              </a:rPr>
              <a:t> </a:t>
            </a:r>
            <a:r>
              <a:rPr lang="en-US" sz="6000" b="1" dirty="0">
                <a:solidFill>
                  <a:schemeClr val="tx2"/>
                </a:solidFill>
                <a:latin typeface="Times New Roman" panose="02020603050405020304" pitchFamily="18" charset="0"/>
                <a:cs typeface="Times New Roman" panose="02020603050405020304" pitchFamily="18" charset="0"/>
              </a:rPr>
              <a:t>Alex Nite</a:t>
            </a:r>
          </a:p>
          <a:p>
            <a:pPr algn="ctr"/>
            <a:endParaRPr lang="en-US" sz="4000" dirty="0">
              <a:solidFill>
                <a:schemeClr val="bg2"/>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EBB42D5C-8664-0F1D-A635-4B884E2D66AA}"/>
              </a:ext>
            </a:extLst>
          </p:cNvPr>
          <p:cNvSpPr txBox="1"/>
          <p:nvPr/>
        </p:nvSpPr>
        <p:spPr>
          <a:xfrm>
            <a:off x="890560" y="7495789"/>
            <a:ext cx="17930840" cy="2000548"/>
          </a:xfrm>
          <a:prstGeom prst="rect">
            <a:avLst/>
          </a:prstGeom>
          <a:solidFill>
            <a:schemeClr val="bg1"/>
          </a:solidFill>
          <a:ln w="28575">
            <a:solidFill>
              <a:schemeClr val="accent1">
                <a:lumMod val="75000"/>
              </a:schemeClr>
            </a:solidFill>
          </a:ln>
        </p:spPr>
        <p:txBody>
          <a:bodyPr wrap="square" rtlCol="0">
            <a:spAutoFit/>
          </a:bodyPr>
          <a:lstStyle/>
          <a:p>
            <a:endParaRPr lang="en-US" sz="3200" dirty="0">
              <a:latin typeface="Times New Roman" panose="02020603050405020304" pitchFamily="18" charset="0"/>
              <a:cs typeface="Times New Roman" panose="02020603050405020304" pitchFamily="18" charset="0"/>
            </a:endParaRPr>
          </a:p>
          <a:p>
            <a:pPr marL="1028700" lvl="1" indent="-5715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Predict 30-day readmission for diabetes patients using patient-level data.</a:t>
            </a:r>
          </a:p>
          <a:p>
            <a:pPr marL="1028700" lvl="1" indent="-5715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Identify hospitals features that lead to excess readmission rates.</a:t>
            </a:r>
          </a:p>
          <a:p>
            <a:pPr marL="1028700" lvl="1" indent="-5715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Compare model performances to inform clinical and operational strategies</a:t>
            </a:r>
            <a:r>
              <a:rPr lang="en-US" sz="3200" dirty="0">
                <a:latin typeface="Times New Roman" panose="02020603050405020304" pitchFamily="18" charset="0"/>
                <a:cs typeface="Times New Roman" panose="02020603050405020304" pitchFamily="18" charset="0"/>
              </a:rPr>
              <a:t>.</a:t>
            </a:r>
          </a:p>
        </p:txBody>
      </p:sp>
      <p:sp>
        <p:nvSpPr>
          <p:cNvPr id="13" name="TextBox 12">
            <a:extLst>
              <a:ext uri="{FF2B5EF4-FFF2-40B4-BE49-F238E27FC236}">
                <a16:creationId xmlns:a16="http://schemas.microsoft.com/office/drawing/2014/main" id="{644C04B5-E4C2-CDB6-5A00-15F09B9841C8}"/>
              </a:ext>
            </a:extLst>
          </p:cNvPr>
          <p:cNvSpPr txBox="1"/>
          <p:nvPr/>
        </p:nvSpPr>
        <p:spPr>
          <a:xfrm>
            <a:off x="868307" y="10961097"/>
            <a:ext cx="17991404" cy="5509200"/>
          </a:xfrm>
          <a:prstGeom prst="rect">
            <a:avLst/>
          </a:prstGeom>
          <a:solidFill>
            <a:schemeClr val="bg1"/>
          </a:solidFill>
          <a:ln w="28575">
            <a:solidFill>
              <a:schemeClr val="accent1">
                <a:lumMod val="75000"/>
              </a:schemeClr>
            </a:solidFill>
          </a:ln>
        </p:spPr>
        <p:txBody>
          <a:bodyPr wrap="square">
            <a:spAutoFit/>
          </a:bodyPr>
          <a:lstStyle/>
          <a:p>
            <a:endParaRPr lang="en-US" sz="3000" dirty="0">
              <a:latin typeface="Times New Roman" panose="02020603050405020304" pitchFamily="18" charset="0"/>
              <a:cs typeface="Times New Roman" panose="02020603050405020304" pitchFamily="18" charset="0"/>
            </a:endParaRPr>
          </a:p>
          <a:p>
            <a:pPr lvl="1"/>
            <a:r>
              <a:rPr lang="en-US" sz="3000" dirty="0">
                <a:latin typeface="Times New Roman" panose="02020603050405020304" pitchFamily="18" charset="0"/>
                <a:cs typeface="Times New Roman" panose="02020603050405020304" pitchFamily="18" charset="0"/>
              </a:rPr>
              <a:t>Both datasets underwent preprocessing  which included: handling missing values, basic feature engineering, removal of low-value columns, one-hot encoding, class-weighting for imbalance, normalization, and PCA (90 percent variance retained).</a:t>
            </a:r>
          </a:p>
          <a:p>
            <a:pPr lvl="1"/>
            <a:endParaRPr lang="en-US" b="1" dirty="0">
              <a:latin typeface="Times New Roman" panose="02020603050405020304" pitchFamily="18" charset="0"/>
              <a:cs typeface="Times New Roman" panose="02020603050405020304" pitchFamily="18" charset="0"/>
            </a:endParaRPr>
          </a:p>
          <a:p>
            <a:pPr lvl="1"/>
            <a:r>
              <a:rPr lang="en-US" sz="3200" b="1" dirty="0">
                <a:latin typeface="Times New Roman" panose="02020603050405020304" pitchFamily="18" charset="0"/>
                <a:cs typeface="Times New Roman" panose="02020603050405020304" pitchFamily="18" charset="0"/>
              </a:rPr>
              <a:t>Diabetes Dataset</a:t>
            </a:r>
            <a:endParaRPr lang="en-US" sz="3200" dirty="0">
              <a:latin typeface="Times New Roman" panose="02020603050405020304" pitchFamily="18" charset="0"/>
              <a:cs typeface="Times New Roman" panose="02020603050405020304" pitchFamily="18" charset="0"/>
            </a:endParaRPr>
          </a:p>
          <a:p>
            <a:pPr marL="1028700" lvl="1" indent="-5715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100, K+ patients (85K+  after stratified sampling for KNN specifically).</a:t>
            </a:r>
          </a:p>
          <a:p>
            <a:pPr marL="1028700" lvl="1" indent="-5715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Target: binary readmission.</a:t>
            </a:r>
          </a:p>
          <a:p>
            <a:pPr marL="1028700" lvl="1" indent="-57150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lvl="1"/>
            <a:r>
              <a:rPr lang="en-US" sz="3200" b="1" dirty="0">
                <a:latin typeface="Times New Roman" panose="02020603050405020304" pitchFamily="18" charset="0"/>
                <a:cs typeface="Times New Roman" panose="02020603050405020304" pitchFamily="18" charset="0"/>
              </a:rPr>
              <a:t>Hospital Dataset</a:t>
            </a:r>
            <a:endParaRPr lang="en-US" sz="3200" dirty="0">
              <a:latin typeface="Times New Roman" panose="02020603050405020304" pitchFamily="18" charset="0"/>
              <a:cs typeface="Times New Roman" panose="02020603050405020304" pitchFamily="18" charset="0"/>
            </a:endParaRPr>
          </a:p>
          <a:p>
            <a:pPr marL="1028700" lvl="1" indent="-5715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Includes discharges, readmission rates, ICD and HCPCS codes, and state information.</a:t>
            </a:r>
          </a:p>
          <a:p>
            <a:pPr marL="1028700" lvl="1" indent="-5715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Target: excess_readmission_flag.</a:t>
            </a:r>
          </a:p>
        </p:txBody>
      </p:sp>
      <p:sp>
        <p:nvSpPr>
          <p:cNvPr id="24" name="TextBox 23">
            <a:extLst>
              <a:ext uri="{FF2B5EF4-FFF2-40B4-BE49-F238E27FC236}">
                <a16:creationId xmlns:a16="http://schemas.microsoft.com/office/drawing/2014/main" id="{E5FE3AD3-7C74-D594-CB45-ED4763E3DD75}"/>
              </a:ext>
            </a:extLst>
          </p:cNvPr>
          <p:cNvSpPr txBox="1"/>
          <p:nvPr/>
        </p:nvSpPr>
        <p:spPr>
          <a:xfrm>
            <a:off x="890559" y="3123593"/>
            <a:ext cx="17908588" cy="1005840"/>
          </a:xfrm>
          <a:prstGeom prst="rect">
            <a:avLst/>
          </a:prstGeom>
          <a:solidFill>
            <a:schemeClr val="accent1">
              <a:lumMod val="75000"/>
            </a:schemeClr>
          </a:solidFill>
          <a:ln>
            <a:solidFill>
              <a:schemeClr val="accent1">
                <a:lumMod val="75000"/>
              </a:schemeClr>
            </a:solidFill>
          </a:ln>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US" sz="4400" b="1" dirty="0">
                <a:solidFill>
                  <a:schemeClr val="bg2"/>
                </a:solidFill>
                <a:latin typeface="Times New Roman" panose="02020603050405020304" pitchFamily="18" charset="0"/>
                <a:cs typeface="Times New Roman" panose="02020603050405020304" pitchFamily="18" charset="0"/>
              </a:rPr>
              <a:t>Introduction</a:t>
            </a:r>
            <a:br>
              <a:rPr lang="en-US" sz="4000" dirty="0">
                <a:latin typeface="Times New Roman" panose="02020603050405020304" pitchFamily="18" charset="0"/>
                <a:cs typeface="Times New Roman" panose="02020603050405020304" pitchFamily="18" charset="0"/>
              </a:rPr>
            </a:br>
            <a:endParaRPr lang="en-US" sz="3000" dirty="0">
              <a:latin typeface="Times New Roman" panose="02020603050405020304" pitchFamily="18" charset="0"/>
              <a:cs typeface="Times New Roman" panose="02020603050405020304" pitchFamily="18" charset="0"/>
            </a:endParaRPr>
          </a:p>
        </p:txBody>
      </p:sp>
      <p:pic>
        <p:nvPicPr>
          <p:cNvPr id="26" name="Picture 25" descr="A graph of a graph&#10;&#10;AI-generated content may be incorrect.">
            <a:extLst>
              <a:ext uri="{FF2B5EF4-FFF2-40B4-BE49-F238E27FC236}">
                <a16:creationId xmlns:a16="http://schemas.microsoft.com/office/drawing/2014/main" id="{A1F6DBE5-3FB0-B0F8-9037-53BDA1E4686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13329" y="18459232"/>
            <a:ext cx="8752938" cy="5340113"/>
          </a:xfrm>
          <a:prstGeom prst="rect">
            <a:avLst/>
          </a:prstGeom>
          <a:noFill/>
          <a:ln>
            <a:solidFill>
              <a:schemeClr val="accent1">
                <a:lumMod val="75000"/>
              </a:schemeClr>
            </a:solidFill>
          </a:ln>
        </p:spPr>
      </p:pic>
      <p:pic>
        <p:nvPicPr>
          <p:cNvPr id="27" name="Picture 26" descr="A graph of a person and person&#10;&#10;AI-generated content may be incorrect.">
            <a:extLst>
              <a:ext uri="{FF2B5EF4-FFF2-40B4-BE49-F238E27FC236}">
                <a16:creationId xmlns:a16="http://schemas.microsoft.com/office/drawing/2014/main" id="{A11E60A4-6704-8216-D66E-42B2FC07017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627543" y="18350117"/>
            <a:ext cx="7819068" cy="5265278"/>
          </a:xfrm>
          <a:prstGeom prst="rect">
            <a:avLst/>
          </a:prstGeom>
          <a:noFill/>
          <a:ln>
            <a:solidFill>
              <a:schemeClr val="accent1">
                <a:lumMod val="75000"/>
              </a:schemeClr>
            </a:solidFill>
          </a:ln>
        </p:spPr>
      </p:pic>
      <p:sp>
        <p:nvSpPr>
          <p:cNvPr id="28" name="TextBox 27">
            <a:extLst>
              <a:ext uri="{FF2B5EF4-FFF2-40B4-BE49-F238E27FC236}">
                <a16:creationId xmlns:a16="http://schemas.microsoft.com/office/drawing/2014/main" id="{3E255476-3CE7-678F-EFF9-039CF97CC912}"/>
              </a:ext>
            </a:extLst>
          </p:cNvPr>
          <p:cNvSpPr txBox="1"/>
          <p:nvPr/>
        </p:nvSpPr>
        <p:spPr>
          <a:xfrm>
            <a:off x="1878811" y="23888984"/>
            <a:ext cx="6729984" cy="830997"/>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Fig 1.1</a:t>
            </a:r>
          </a:p>
          <a:p>
            <a:pPr algn="ctr"/>
            <a:r>
              <a:rPr lang="en-US" sz="2400" dirty="0">
                <a:latin typeface="Times New Roman" panose="02020603050405020304" pitchFamily="18" charset="0"/>
                <a:cs typeface="Times New Roman" panose="02020603050405020304" pitchFamily="18" charset="0"/>
              </a:rPr>
              <a:t>Age is a strong predictor of diabetes risk</a:t>
            </a:r>
          </a:p>
        </p:txBody>
      </p:sp>
      <p:sp>
        <p:nvSpPr>
          <p:cNvPr id="29" name="TextBox 28">
            <a:extLst>
              <a:ext uri="{FF2B5EF4-FFF2-40B4-BE49-F238E27FC236}">
                <a16:creationId xmlns:a16="http://schemas.microsoft.com/office/drawing/2014/main" id="{2A2CE026-359D-6343-30FA-76839288F2BA}"/>
              </a:ext>
            </a:extLst>
          </p:cNvPr>
          <p:cNvSpPr txBox="1"/>
          <p:nvPr/>
        </p:nvSpPr>
        <p:spPr>
          <a:xfrm>
            <a:off x="10739768" y="23888984"/>
            <a:ext cx="7357732" cy="1200329"/>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Fig 1.2</a:t>
            </a:r>
          </a:p>
          <a:p>
            <a:pPr algn="ctr"/>
            <a:r>
              <a:rPr lang="en-US" sz="2400" dirty="0">
                <a:latin typeface="Times New Roman" panose="02020603050405020304" pitchFamily="18" charset="0"/>
                <a:cs typeface="Times New Roman" panose="02020603050405020304" pitchFamily="18" charset="0"/>
              </a:rPr>
              <a:t>Female  represent the larger share of the overall patient group.</a:t>
            </a:r>
          </a:p>
        </p:txBody>
      </p:sp>
      <p:pic>
        <p:nvPicPr>
          <p:cNvPr id="30" name="Picture 29" descr="A graph of a distribution of excess readmission ratio&#10;&#10;AI-generated content may be incorrect.">
            <a:extLst>
              <a:ext uri="{FF2B5EF4-FFF2-40B4-BE49-F238E27FC236}">
                <a16:creationId xmlns:a16="http://schemas.microsoft.com/office/drawing/2014/main" id="{74D937D2-F6C8-46AF-B05C-B798EC59F148}"/>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313329" y="25943311"/>
            <a:ext cx="8747620" cy="5975273"/>
          </a:xfrm>
          <a:prstGeom prst="rect">
            <a:avLst/>
          </a:prstGeom>
          <a:noFill/>
          <a:ln>
            <a:solidFill>
              <a:schemeClr val="accent1">
                <a:lumMod val="75000"/>
              </a:schemeClr>
            </a:solidFill>
          </a:ln>
        </p:spPr>
      </p:pic>
      <p:sp>
        <p:nvSpPr>
          <p:cNvPr id="31" name="TextBox 30">
            <a:extLst>
              <a:ext uri="{FF2B5EF4-FFF2-40B4-BE49-F238E27FC236}">
                <a16:creationId xmlns:a16="http://schemas.microsoft.com/office/drawing/2014/main" id="{98E45B8E-1B9B-4376-1709-EED027E8E5FF}"/>
              </a:ext>
            </a:extLst>
          </p:cNvPr>
          <p:cNvSpPr txBox="1"/>
          <p:nvPr/>
        </p:nvSpPr>
        <p:spPr>
          <a:xfrm>
            <a:off x="10083200" y="27587286"/>
            <a:ext cx="7493929" cy="1938992"/>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Fig 2.1</a:t>
            </a:r>
          </a:p>
          <a:p>
            <a:pPr algn="ctr"/>
            <a:r>
              <a:rPr lang="en-US" sz="2400" dirty="0">
                <a:latin typeface="Times New Roman" panose="02020603050405020304" pitchFamily="18" charset="0"/>
                <a:cs typeface="Times New Roman" panose="02020603050405020304" pitchFamily="18" charset="0"/>
              </a:rPr>
              <a:t>Most hospitals cluster around a ratio of 1.0, with a slight right skew showing many just above 1.0 (higher-than-expected readmissions). Fewer hospitals fall below 1.0, indicating lower-than-expected readmissions.</a:t>
            </a:r>
          </a:p>
        </p:txBody>
      </p:sp>
      <p:sp>
        <p:nvSpPr>
          <p:cNvPr id="33" name="TextBox 32">
            <a:extLst>
              <a:ext uri="{FF2B5EF4-FFF2-40B4-BE49-F238E27FC236}">
                <a16:creationId xmlns:a16="http://schemas.microsoft.com/office/drawing/2014/main" id="{72F16BEE-3243-8665-9156-9A3095093635}"/>
              </a:ext>
            </a:extLst>
          </p:cNvPr>
          <p:cNvSpPr txBox="1"/>
          <p:nvPr/>
        </p:nvSpPr>
        <p:spPr>
          <a:xfrm>
            <a:off x="1221410" y="25115247"/>
            <a:ext cx="7375547"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Hospital Dataset</a:t>
            </a:r>
          </a:p>
        </p:txBody>
      </p:sp>
      <p:sp>
        <p:nvSpPr>
          <p:cNvPr id="35" name="TextBox 34">
            <a:extLst>
              <a:ext uri="{FF2B5EF4-FFF2-40B4-BE49-F238E27FC236}">
                <a16:creationId xmlns:a16="http://schemas.microsoft.com/office/drawing/2014/main" id="{D9316D24-1A53-1247-0B6C-FFD8C1DDBDEB}"/>
              </a:ext>
            </a:extLst>
          </p:cNvPr>
          <p:cNvSpPr txBox="1"/>
          <p:nvPr/>
        </p:nvSpPr>
        <p:spPr>
          <a:xfrm>
            <a:off x="23305773" y="3038376"/>
            <a:ext cx="12435840" cy="707886"/>
          </a:xfrm>
          <a:prstGeom prst="rect">
            <a:avLst/>
          </a:prstGeom>
          <a:noFill/>
        </p:spPr>
        <p:txBody>
          <a:bodyPr wrap="square" rtlCol="0">
            <a:spAutoFit/>
          </a:bodyPr>
          <a:lstStyle/>
          <a:p>
            <a:r>
              <a:rPr lang="en-US" sz="4000" b="1" dirty="0">
                <a:solidFill>
                  <a:schemeClr val="accent1"/>
                </a:solidFill>
                <a:latin typeface="Times New Roman" panose="02020603050405020304" pitchFamily="18" charset="0"/>
                <a:cs typeface="Times New Roman" panose="02020603050405020304" pitchFamily="18" charset="0"/>
              </a:rPr>
              <a:t>Models</a:t>
            </a:r>
            <a:r>
              <a:rPr lang="en-US" sz="4000" b="1" dirty="0">
                <a:latin typeface="Times New Roman" panose="02020603050405020304" pitchFamily="18" charset="0"/>
                <a:cs typeface="Times New Roman" panose="02020603050405020304" pitchFamily="18" charset="0"/>
              </a:rPr>
              <a:t> </a:t>
            </a:r>
          </a:p>
        </p:txBody>
      </p:sp>
      <p:sp>
        <p:nvSpPr>
          <p:cNvPr id="36" name="Rectangle 12">
            <a:extLst>
              <a:ext uri="{FF2B5EF4-FFF2-40B4-BE49-F238E27FC236}">
                <a16:creationId xmlns:a16="http://schemas.microsoft.com/office/drawing/2014/main" id="{790BAA2F-D30F-4034-13DF-C26A06C54647}"/>
              </a:ext>
            </a:extLst>
          </p:cNvPr>
          <p:cNvSpPr>
            <a:spLocks noChangeArrowheads="1"/>
          </p:cNvSpPr>
          <p:nvPr/>
        </p:nvSpPr>
        <p:spPr bwMode="auto">
          <a:xfrm flipV="1">
            <a:off x="25136729" y="4922213"/>
            <a:ext cx="55488832" cy="6617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/tmp/ipython-input-1101155210.py:6: UserWarning: This pattern is interpreted as a regular expression, and has match groups. To actually get the groups, use str.extract. (performance_df.index.str.contains('(Test)') == False) </a:t>
            </a:r>
            <a:endParaRPr kumimoji="0" lang="en-US" altLang="en-US" sz="2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4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pic>
        <p:nvPicPr>
          <p:cNvPr id="1037" name="Picture 13">
            <a:extLst>
              <a:ext uri="{FF2B5EF4-FFF2-40B4-BE49-F238E27FC236}">
                <a16:creationId xmlns:a16="http://schemas.microsoft.com/office/drawing/2014/main" id="{4C390B7A-1737-9B30-C753-1EF3B2B5AC3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795804" y="5291906"/>
            <a:ext cx="15367392" cy="7851064"/>
          </a:xfrm>
          <a:prstGeom prst="rect">
            <a:avLst/>
          </a:prstGeom>
          <a:noFill/>
          <a:ln>
            <a:solidFill>
              <a:schemeClr val="accent1">
                <a:lumMod val="75000"/>
              </a:schemeClr>
            </a:solidFill>
          </a:ln>
          <a:extLst>
            <a:ext uri="{909E8E84-426E-40DD-AFC4-6F175D3DCCD1}">
              <a14:hiddenFill xmlns:a14="http://schemas.microsoft.com/office/drawing/2010/main">
                <a:solidFill>
                  <a:srgbClr val="FFFFFF"/>
                </a:solidFill>
              </a14:hiddenFill>
            </a:ext>
          </a:extLst>
        </p:spPr>
      </p:pic>
      <p:sp>
        <p:nvSpPr>
          <p:cNvPr id="37" name="TextBox 36">
            <a:extLst>
              <a:ext uri="{FF2B5EF4-FFF2-40B4-BE49-F238E27FC236}">
                <a16:creationId xmlns:a16="http://schemas.microsoft.com/office/drawing/2014/main" id="{11D1A541-DF03-D5E1-A669-B16A9497B618}"/>
              </a:ext>
            </a:extLst>
          </p:cNvPr>
          <p:cNvSpPr txBox="1"/>
          <p:nvPr/>
        </p:nvSpPr>
        <p:spPr>
          <a:xfrm>
            <a:off x="22599840" y="4509971"/>
            <a:ext cx="6499289" cy="646331"/>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Diabetes Dataset Models</a:t>
            </a:r>
          </a:p>
        </p:txBody>
      </p:sp>
      <p:sp>
        <p:nvSpPr>
          <p:cNvPr id="38" name="TextBox 37">
            <a:extLst>
              <a:ext uri="{FF2B5EF4-FFF2-40B4-BE49-F238E27FC236}">
                <a16:creationId xmlns:a16="http://schemas.microsoft.com/office/drawing/2014/main" id="{699190EB-D2EF-CDDA-919D-F0AA300F56B2}"/>
              </a:ext>
            </a:extLst>
          </p:cNvPr>
          <p:cNvSpPr txBox="1"/>
          <p:nvPr/>
        </p:nvSpPr>
        <p:spPr>
          <a:xfrm>
            <a:off x="22920084" y="13978329"/>
            <a:ext cx="6045896" cy="646331"/>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Hospital Dataset Model</a:t>
            </a:r>
          </a:p>
        </p:txBody>
      </p:sp>
      <p:graphicFrame>
        <p:nvGraphicFramePr>
          <p:cNvPr id="44" name="Table 43">
            <a:extLst>
              <a:ext uri="{FF2B5EF4-FFF2-40B4-BE49-F238E27FC236}">
                <a16:creationId xmlns:a16="http://schemas.microsoft.com/office/drawing/2014/main" id="{5B142D47-B487-C227-7F23-5E5769D12AB6}"/>
              </a:ext>
            </a:extLst>
          </p:cNvPr>
          <p:cNvGraphicFramePr>
            <a:graphicFrameLocks noGrp="1"/>
          </p:cNvGraphicFramePr>
          <p:nvPr>
            <p:extLst>
              <p:ext uri="{D42A27DB-BD31-4B8C-83A1-F6EECF244321}">
                <p14:modId xmlns:p14="http://schemas.microsoft.com/office/powerpoint/2010/main" val="2550991687"/>
              </p:ext>
            </p:extLst>
          </p:nvPr>
        </p:nvGraphicFramePr>
        <p:xfrm>
          <a:off x="33844379" y="16979771"/>
          <a:ext cx="8861948" cy="2400136"/>
        </p:xfrm>
        <a:graphic>
          <a:graphicData uri="http://schemas.openxmlformats.org/drawingml/2006/table">
            <a:tbl>
              <a:tblPr/>
              <a:tblGrid>
                <a:gridCol w="2215487">
                  <a:extLst>
                    <a:ext uri="{9D8B030D-6E8A-4147-A177-3AD203B41FA5}">
                      <a16:colId xmlns:a16="http://schemas.microsoft.com/office/drawing/2014/main" val="2270057079"/>
                    </a:ext>
                  </a:extLst>
                </a:gridCol>
                <a:gridCol w="2215487">
                  <a:extLst>
                    <a:ext uri="{9D8B030D-6E8A-4147-A177-3AD203B41FA5}">
                      <a16:colId xmlns:a16="http://schemas.microsoft.com/office/drawing/2014/main" val="437224301"/>
                    </a:ext>
                  </a:extLst>
                </a:gridCol>
                <a:gridCol w="2215487">
                  <a:extLst>
                    <a:ext uri="{9D8B030D-6E8A-4147-A177-3AD203B41FA5}">
                      <a16:colId xmlns:a16="http://schemas.microsoft.com/office/drawing/2014/main" val="290509409"/>
                    </a:ext>
                  </a:extLst>
                </a:gridCol>
                <a:gridCol w="2215487">
                  <a:extLst>
                    <a:ext uri="{9D8B030D-6E8A-4147-A177-3AD203B41FA5}">
                      <a16:colId xmlns:a16="http://schemas.microsoft.com/office/drawing/2014/main" val="3914047649"/>
                    </a:ext>
                  </a:extLst>
                </a:gridCol>
              </a:tblGrid>
              <a:tr h="600034">
                <a:tc>
                  <a:txBody>
                    <a:bodyPr/>
                    <a:lstStyle/>
                    <a:p>
                      <a:pPr algn="ctr" fontAlgn="b">
                        <a:buNone/>
                      </a:pPr>
                      <a:r>
                        <a:rPr lang="en-US" sz="3000" b="1" i="0" u="none" strike="noStrike" dirty="0">
                          <a:solidFill>
                            <a:srgbClr val="000000"/>
                          </a:solidFill>
                          <a:effectLst/>
                          <a:latin typeface="Aptos Narrow" panose="020B0004020202020204" pitchFamily="34" charset="0"/>
                        </a:rPr>
                        <a:t>Metric</a:t>
                      </a:r>
                    </a:p>
                  </a:txBody>
                  <a:tcPr marL="7620" marR="7620" marT="7620" marB="0" anchor="b">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fontAlgn="b">
                        <a:buNone/>
                      </a:pPr>
                      <a:r>
                        <a:rPr lang="en-US" sz="3000" b="1" i="0" u="none" strike="noStrike" dirty="0">
                          <a:solidFill>
                            <a:srgbClr val="000000"/>
                          </a:solidFill>
                          <a:effectLst/>
                          <a:latin typeface="Aptos Narrow" panose="020B0004020202020204" pitchFamily="34" charset="0"/>
                        </a:rPr>
                        <a:t>Precision</a:t>
                      </a:r>
                    </a:p>
                  </a:txBody>
                  <a:tcPr marL="7620" marR="7620" marT="7620" marB="0" anchor="b">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fontAlgn="b">
                        <a:buNone/>
                      </a:pPr>
                      <a:r>
                        <a:rPr lang="en-US" sz="3000" b="1" i="0" u="none" strike="noStrike">
                          <a:solidFill>
                            <a:srgbClr val="000000"/>
                          </a:solidFill>
                          <a:effectLst/>
                          <a:latin typeface="Aptos Narrow" panose="020B0004020202020204" pitchFamily="34" charset="0"/>
                        </a:rPr>
                        <a:t>Recall</a:t>
                      </a:r>
                    </a:p>
                  </a:txBody>
                  <a:tcPr marL="7620" marR="7620" marT="7620" marB="0" anchor="b">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fontAlgn="b">
                        <a:buNone/>
                      </a:pPr>
                      <a:r>
                        <a:rPr lang="en-US" sz="3000" b="1" i="0" u="none" strike="noStrike" dirty="0">
                          <a:solidFill>
                            <a:srgbClr val="000000"/>
                          </a:solidFill>
                          <a:effectLst/>
                          <a:latin typeface="Aptos Narrow" panose="020B0004020202020204" pitchFamily="34" charset="0"/>
                        </a:rPr>
                        <a:t>F1-Score</a:t>
                      </a:r>
                    </a:p>
                  </a:txBody>
                  <a:tcPr marL="7620" marR="7620" marT="7620" marB="0" anchor="b">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58426434"/>
                  </a:ext>
                </a:extLst>
              </a:tr>
              <a:tr h="600034">
                <a:tc>
                  <a:txBody>
                    <a:bodyPr/>
                    <a:lstStyle/>
                    <a:p>
                      <a:pPr algn="ctr" fontAlgn="b">
                        <a:buNone/>
                      </a:pPr>
                      <a:r>
                        <a:rPr lang="en-US" sz="3000" b="1" i="0" u="none" strike="noStrike">
                          <a:solidFill>
                            <a:srgbClr val="000000"/>
                          </a:solidFill>
                          <a:effectLst/>
                          <a:latin typeface="Aptos Narrow" panose="020B0004020202020204" pitchFamily="34" charset="0"/>
                        </a:rPr>
                        <a:t>Class 0</a:t>
                      </a:r>
                    </a:p>
                  </a:txBody>
                  <a:tcPr marL="7620" marR="7620" marT="7620" marB="0" anchor="b">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fontAlgn="b">
                        <a:buNone/>
                      </a:pPr>
                      <a:r>
                        <a:rPr lang="en-US" sz="3000" b="0" i="0" u="none" strike="noStrike" dirty="0">
                          <a:solidFill>
                            <a:srgbClr val="000000"/>
                          </a:solidFill>
                          <a:effectLst/>
                          <a:latin typeface="Aptos Narrow" panose="020B0004020202020204" pitchFamily="34" charset="0"/>
                        </a:rPr>
                        <a:t>0.99</a:t>
                      </a:r>
                    </a:p>
                  </a:txBody>
                  <a:tcPr marL="7620" marR="7620" marT="7620" marB="0" anchor="b">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fontAlgn="b">
                        <a:buNone/>
                      </a:pPr>
                      <a:r>
                        <a:rPr lang="en-US" sz="3000" b="0" i="0" u="none" strike="noStrike" dirty="0">
                          <a:solidFill>
                            <a:srgbClr val="000000"/>
                          </a:solidFill>
                          <a:effectLst/>
                          <a:latin typeface="Aptos Narrow" panose="020B0004020202020204" pitchFamily="34" charset="0"/>
                        </a:rPr>
                        <a:t>1</a:t>
                      </a:r>
                    </a:p>
                  </a:txBody>
                  <a:tcPr marL="7620" marR="7620" marT="7620" marB="0" anchor="b">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fontAlgn="b">
                        <a:buNone/>
                      </a:pPr>
                      <a:r>
                        <a:rPr lang="en-US" sz="3000" b="0" i="0" u="none" strike="noStrike" dirty="0">
                          <a:solidFill>
                            <a:srgbClr val="000000"/>
                          </a:solidFill>
                          <a:effectLst/>
                          <a:latin typeface="Aptos Narrow" panose="020B0004020202020204" pitchFamily="34" charset="0"/>
                        </a:rPr>
                        <a:t>0.99</a:t>
                      </a:r>
                    </a:p>
                  </a:txBody>
                  <a:tcPr marL="7620" marR="7620" marT="7620" marB="0" anchor="b">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5508395"/>
                  </a:ext>
                </a:extLst>
              </a:tr>
              <a:tr h="600034">
                <a:tc>
                  <a:txBody>
                    <a:bodyPr/>
                    <a:lstStyle/>
                    <a:p>
                      <a:pPr algn="ctr" fontAlgn="b">
                        <a:buNone/>
                      </a:pPr>
                      <a:r>
                        <a:rPr lang="en-US" sz="3000" b="1" i="0" u="none" strike="noStrike" dirty="0">
                          <a:solidFill>
                            <a:srgbClr val="000000"/>
                          </a:solidFill>
                          <a:effectLst/>
                          <a:latin typeface="Aptos Narrow" panose="020B0004020202020204" pitchFamily="34" charset="0"/>
                        </a:rPr>
                        <a:t>Class 1</a:t>
                      </a:r>
                    </a:p>
                  </a:txBody>
                  <a:tcPr marL="7620" marR="7620" marT="7620" marB="0" anchor="b">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fontAlgn="b">
                        <a:buNone/>
                      </a:pPr>
                      <a:r>
                        <a:rPr lang="en-US" sz="3000" b="0" i="0" u="none" strike="noStrike" dirty="0">
                          <a:solidFill>
                            <a:srgbClr val="000000"/>
                          </a:solidFill>
                          <a:effectLst/>
                          <a:latin typeface="Aptos Narrow" panose="020B0004020202020204" pitchFamily="34" charset="0"/>
                        </a:rPr>
                        <a:t>0.99</a:t>
                      </a:r>
                    </a:p>
                  </a:txBody>
                  <a:tcPr marL="7620" marR="7620" marT="7620" marB="0" anchor="b">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fontAlgn="b">
                        <a:buNone/>
                      </a:pPr>
                      <a:r>
                        <a:rPr lang="en-US" sz="3000" b="0" i="0" u="none" strike="noStrike" dirty="0">
                          <a:solidFill>
                            <a:srgbClr val="000000"/>
                          </a:solidFill>
                          <a:effectLst/>
                          <a:latin typeface="Aptos Narrow" panose="020B0004020202020204" pitchFamily="34" charset="0"/>
                        </a:rPr>
                        <a:t>0.99</a:t>
                      </a:r>
                    </a:p>
                  </a:txBody>
                  <a:tcPr marL="7620" marR="7620" marT="7620" marB="0" anchor="b">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fontAlgn="b">
                        <a:buNone/>
                      </a:pPr>
                      <a:r>
                        <a:rPr lang="en-US" sz="3000" b="0" i="0" u="none" strike="noStrike" dirty="0">
                          <a:solidFill>
                            <a:srgbClr val="000000"/>
                          </a:solidFill>
                          <a:effectLst/>
                          <a:latin typeface="Aptos Narrow" panose="020B0004020202020204" pitchFamily="34" charset="0"/>
                        </a:rPr>
                        <a:t>0.99</a:t>
                      </a:r>
                    </a:p>
                  </a:txBody>
                  <a:tcPr marL="7620" marR="7620" marT="7620" marB="0" anchor="b">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54036276"/>
                  </a:ext>
                </a:extLst>
              </a:tr>
              <a:tr h="600034">
                <a:tc>
                  <a:txBody>
                    <a:bodyPr/>
                    <a:lstStyle/>
                    <a:p>
                      <a:pPr algn="ctr" fontAlgn="b">
                        <a:buNone/>
                      </a:pPr>
                      <a:r>
                        <a:rPr lang="en-US" sz="3000" b="1" i="0" u="none" strike="noStrike" dirty="0">
                          <a:solidFill>
                            <a:srgbClr val="000000"/>
                          </a:solidFill>
                          <a:effectLst/>
                          <a:latin typeface="Aptos Narrow" panose="020B0004020202020204" pitchFamily="34" charset="0"/>
                        </a:rPr>
                        <a:t>Accuracy</a:t>
                      </a:r>
                    </a:p>
                  </a:txBody>
                  <a:tcPr marL="7620" marR="7620" marT="7620" marB="0" anchor="b">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fontAlgn="b">
                        <a:buNone/>
                      </a:pPr>
                      <a:r>
                        <a:rPr lang="en-US" sz="3000" b="0" i="0" u="none" strike="noStrike">
                          <a:solidFill>
                            <a:srgbClr val="000000"/>
                          </a:solidFill>
                          <a:effectLst/>
                          <a:latin typeface="Aptos Narrow" panose="020B0004020202020204" pitchFamily="34" charset="0"/>
                        </a:rPr>
                        <a:t>-</a:t>
                      </a:r>
                    </a:p>
                  </a:txBody>
                  <a:tcPr marL="7620" marR="7620" marT="7620" marB="0" anchor="b">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fontAlgn="b">
                        <a:buNone/>
                      </a:pPr>
                      <a:r>
                        <a:rPr lang="en-US" sz="3000" b="0" i="0" u="none" strike="noStrike" dirty="0">
                          <a:solidFill>
                            <a:srgbClr val="000000"/>
                          </a:solidFill>
                          <a:effectLst/>
                          <a:latin typeface="Aptos Narrow" panose="020B0004020202020204" pitchFamily="34" charset="0"/>
                        </a:rPr>
                        <a:t>0.99</a:t>
                      </a:r>
                    </a:p>
                  </a:txBody>
                  <a:tcPr marL="7620" marR="7620" marT="7620" marB="0" anchor="b">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fontAlgn="b">
                        <a:buNone/>
                      </a:pPr>
                      <a:r>
                        <a:rPr lang="en-US" sz="3000" b="0" i="0" u="none" strike="noStrike" dirty="0">
                          <a:solidFill>
                            <a:srgbClr val="000000"/>
                          </a:solidFill>
                          <a:effectLst/>
                          <a:latin typeface="Aptos Narrow" panose="020B0004020202020204" pitchFamily="34" charset="0"/>
                        </a:rPr>
                        <a:t>-</a:t>
                      </a:r>
                    </a:p>
                  </a:txBody>
                  <a:tcPr marL="7620" marR="7620" marT="7620" marB="0" anchor="b">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9209238"/>
                  </a:ext>
                </a:extLst>
              </a:tr>
            </a:tbl>
          </a:graphicData>
        </a:graphic>
      </p:graphicFrame>
      <p:pic>
        <p:nvPicPr>
          <p:cNvPr id="1041" name="Picture 17">
            <a:extLst>
              <a:ext uri="{FF2B5EF4-FFF2-40B4-BE49-F238E27FC236}">
                <a16:creationId xmlns:a16="http://schemas.microsoft.com/office/drawing/2014/main" id="{A381B585-E979-DFB3-31ED-DF9661579F8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920084" y="14846222"/>
            <a:ext cx="10135625" cy="7563694"/>
          </a:xfrm>
          <a:prstGeom prst="rect">
            <a:avLst/>
          </a:prstGeom>
          <a:noFill/>
          <a:ln>
            <a:solidFill>
              <a:schemeClr val="accent1">
                <a:lumMod val="75000"/>
              </a:schemeClr>
            </a:solidFill>
          </a:ln>
          <a:extLst>
            <a:ext uri="{909E8E84-426E-40DD-AFC4-6F175D3DCCD1}">
              <a14:hiddenFill xmlns:a14="http://schemas.microsoft.com/office/drawing/2010/main">
                <a:solidFill>
                  <a:srgbClr val="FFFFFF"/>
                </a:solidFill>
              </a14:hiddenFill>
            </a:ext>
          </a:extLst>
        </p:spPr>
      </p:pic>
      <p:sp>
        <p:nvSpPr>
          <p:cNvPr id="45" name="TextBox 44">
            <a:extLst>
              <a:ext uri="{FF2B5EF4-FFF2-40B4-BE49-F238E27FC236}">
                <a16:creationId xmlns:a16="http://schemas.microsoft.com/office/drawing/2014/main" id="{99142E1C-2956-05C2-2775-F76811391D8D}"/>
              </a:ext>
            </a:extLst>
          </p:cNvPr>
          <p:cNvSpPr txBox="1"/>
          <p:nvPr/>
        </p:nvSpPr>
        <p:spPr>
          <a:xfrm>
            <a:off x="33616985" y="15565295"/>
            <a:ext cx="9228416" cy="954107"/>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Hospital Dataset Random Forest Performance Metric for Test Data</a:t>
            </a:r>
          </a:p>
        </p:txBody>
      </p:sp>
      <p:sp>
        <p:nvSpPr>
          <p:cNvPr id="47" name="TextBox 46">
            <a:extLst>
              <a:ext uri="{FF2B5EF4-FFF2-40B4-BE49-F238E27FC236}">
                <a16:creationId xmlns:a16="http://schemas.microsoft.com/office/drawing/2014/main" id="{F3AC2CB1-5015-923E-C623-854F89D58BFA}"/>
              </a:ext>
            </a:extLst>
          </p:cNvPr>
          <p:cNvSpPr txBox="1"/>
          <p:nvPr/>
        </p:nvSpPr>
        <p:spPr>
          <a:xfrm>
            <a:off x="22270488" y="24624862"/>
            <a:ext cx="20997114" cy="3931920"/>
          </a:xfrm>
          <a:prstGeom prst="rect">
            <a:avLst/>
          </a:prstGeom>
          <a:solidFill>
            <a:schemeClr val="bg1"/>
          </a:solidFill>
          <a:ln>
            <a:solidFill>
              <a:schemeClr val="accent1">
                <a:lumMod val="75000"/>
              </a:schemeClr>
            </a:solidFill>
          </a:ln>
        </p:spPr>
        <p:txBody>
          <a:bodyPr wrap="square" rtlCol="0">
            <a:spAutoFit/>
          </a:bodyPr>
          <a:lstStyle/>
          <a:p>
            <a:endParaRPr lang="en-US" sz="3000" b="1" dirty="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For patient-level diabetes data, age, prior hospital visits, and medication changes are key drivers of readmission risk. High-risk patients can be identified for targeted care interventions.</a:t>
            </a:r>
          </a:p>
          <a:p>
            <a:pPr marL="914400" lvl="1" indent="-4572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For hospital-level data, the model shows that excess readmissions are largely determined by the hospital’s own readmission metrics, shifting the focus from prediction to understanding operational drivers like care coordination, discharge planning, and post-discharge support.</a:t>
            </a:r>
          </a:p>
          <a:p>
            <a:pPr marL="914400" lvl="1" indent="-4572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Overall, combining patient and hospital data provides a holistic view, linking individual risk factors with institutional performance to guide targeted interventions, resource allocation, and policy actions.</a:t>
            </a:r>
          </a:p>
          <a:p>
            <a:endParaRPr lang="en-US" sz="3000" dirty="0">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7C1C654E-F406-143C-2355-2A817D8B969A}"/>
              </a:ext>
            </a:extLst>
          </p:cNvPr>
          <p:cNvSpPr txBox="1"/>
          <p:nvPr/>
        </p:nvSpPr>
        <p:spPr>
          <a:xfrm>
            <a:off x="22316227" y="29378970"/>
            <a:ext cx="20997115" cy="2923877"/>
          </a:xfrm>
          <a:prstGeom prst="rect">
            <a:avLst/>
          </a:prstGeom>
          <a:solidFill>
            <a:schemeClr val="bg1"/>
          </a:solidFill>
          <a:ln>
            <a:solidFill>
              <a:schemeClr val="accent1">
                <a:lumMod val="75000"/>
              </a:schemeClr>
            </a:solidFill>
          </a:ln>
        </p:spPr>
        <p:txBody>
          <a:bodyPr wrap="square" rtlCol="0">
            <a:spAutoFit/>
          </a:bodyPr>
          <a:lstStyle/>
          <a:p>
            <a:endParaRPr lang="en-US" sz="3200" dirty="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3000" b="1" dirty="0">
                <a:latin typeface="Times New Roman" panose="02020603050405020304" pitchFamily="18" charset="0"/>
                <a:cs typeface="Times New Roman" panose="02020603050405020304" pitchFamily="18" charset="0"/>
              </a:rPr>
              <a:t>High-Risk Patients:</a:t>
            </a:r>
            <a:r>
              <a:rPr lang="en-US" sz="3000" dirty="0">
                <a:latin typeface="Times New Roman" panose="02020603050405020304" pitchFamily="18" charset="0"/>
                <a:cs typeface="Times New Roman" panose="02020603050405020304" pitchFamily="18" charset="0"/>
              </a:rPr>
              <a:t> Target follow-up, home care, and education for patients with complex conditions or multiple prior visits.</a:t>
            </a:r>
          </a:p>
          <a:p>
            <a:pPr marL="914400" lvl="1" indent="-457200">
              <a:buFont typeface="Arial" panose="020B0604020202020204" pitchFamily="34" charset="0"/>
              <a:buChar char="•"/>
            </a:pPr>
            <a:r>
              <a:rPr lang="en-US" sz="3000" b="1" dirty="0">
                <a:latin typeface="Times New Roman" panose="02020603050405020304" pitchFamily="18" charset="0"/>
                <a:cs typeface="Times New Roman" panose="02020603050405020304" pitchFamily="18" charset="0"/>
              </a:rPr>
              <a:t>Hospital Processes:</a:t>
            </a:r>
            <a:r>
              <a:rPr lang="en-US" sz="3000" dirty="0">
                <a:latin typeface="Times New Roman" panose="02020603050405020304" pitchFamily="18" charset="0"/>
                <a:cs typeface="Times New Roman" panose="02020603050405020304" pitchFamily="18" charset="0"/>
              </a:rPr>
              <a:t> Improve care coordination, discharge planning, and post-discharge support.</a:t>
            </a:r>
          </a:p>
          <a:p>
            <a:pPr marL="914400" lvl="1" indent="-457200">
              <a:buFont typeface="Arial" panose="020B0604020202020204" pitchFamily="34" charset="0"/>
              <a:buChar char="•"/>
            </a:pPr>
            <a:r>
              <a:rPr lang="en-US" sz="3000" b="1" dirty="0">
                <a:latin typeface="Times New Roman" panose="02020603050405020304" pitchFamily="18" charset="0"/>
                <a:cs typeface="Times New Roman" panose="02020603050405020304" pitchFamily="18" charset="0"/>
              </a:rPr>
              <a:t>Resource Allocation:</a:t>
            </a:r>
            <a:r>
              <a:rPr lang="en-US" sz="3000" dirty="0">
                <a:latin typeface="Times New Roman" panose="02020603050405020304" pitchFamily="18" charset="0"/>
                <a:cs typeface="Times New Roman" panose="02020603050405020304" pitchFamily="18" charset="0"/>
              </a:rPr>
              <a:t> Focus staff and programs where readmissions are most likely.</a:t>
            </a:r>
          </a:p>
          <a:p>
            <a:pPr marL="914400" lvl="1" indent="-457200">
              <a:buFont typeface="Arial" panose="020B0604020202020204" pitchFamily="34" charset="0"/>
              <a:buChar char="•"/>
            </a:pPr>
            <a:r>
              <a:rPr lang="en-US" sz="3000" b="1" dirty="0">
                <a:latin typeface="Times New Roman" panose="02020603050405020304" pitchFamily="18" charset="0"/>
                <a:cs typeface="Times New Roman" panose="02020603050405020304" pitchFamily="18" charset="0"/>
              </a:rPr>
              <a:t>Policy Guidance:</a:t>
            </a:r>
            <a:r>
              <a:rPr lang="en-US" sz="3000" dirty="0">
                <a:latin typeface="Times New Roman" panose="02020603050405020304" pitchFamily="18" charset="0"/>
                <a:cs typeface="Times New Roman" panose="02020603050405020304" pitchFamily="18" charset="0"/>
              </a:rPr>
              <a:t> Promote standardized protocols and equitable access to follow-up care.</a:t>
            </a:r>
          </a:p>
          <a:p>
            <a:endParaRPr lang="en-US" sz="3200" dirty="0">
              <a:latin typeface="Times New Roman" panose="02020603050405020304" pitchFamily="18" charset="0"/>
              <a:cs typeface="Times New Roman" panose="02020603050405020304" pitchFamily="18" charset="0"/>
            </a:endParaRPr>
          </a:p>
        </p:txBody>
      </p:sp>
      <p:sp>
        <p:nvSpPr>
          <p:cNvPr id="49" name="TextBox 48">
            <a:extLst>
              <a:ext uri="{FF2B5EF4-FFF2-40B4-BE49-F238E27FC236}">
                <a16:creationId xmlns:a16="http://schemas.microsoft.com/office/drawing/2014/main" id="{D78B5DAE-151B-C2A5-2710-2D4363BF633D}"/>
              </a:ext>
            </a:extLst>
          </p:cNvPr>
          <p:cNvSpPr txBox="1"/>
          <p:nvPr/>
        </p:nvSpPr>
        <p:spPr>
          <a:xfrm>
            <a:off x="871404" y="4072049"/>
            <a:ext cx="17930840" cy="1938992"/>
          </a:xfrm>
          <a:prstGeom prst="rect">
            <a:avLst/>
          </a:prstGeom>
          <a:solidFill>
            <a:schemeClr val="bg1"/>
          </a:solidFill>
          <a:ln w="28575">
            <a:solidFill>
              <a:schemeClr val="accent1">
                <a:lumMod val="75000"/>
              </a:schemeClr>
            </a:solidFill>
          </a:ln>
        </p:spPr>
        <p:txBody>
          <a:bodyPr wrap="square" rtlCol="0">
            <a:spAutoFit/>
          </a:bodyPr>
          <a:lstStyle/>
          <a:p>
            <a:endParaRPr lang="en-US" sz="3000" dirty="0">
              <a:latin typeface="Times New Roman" panose="02020603050405020304" pitchFamily="18" charset="0"/>
              <a:cs typeface="Times New Roman" panose="02020603050405020304" pitchFamily="18" charset="0"/>
            </a:endParaRPr>
          </a:p>
          <a:p>
            <a:pPr lvl="1"/>
            <a:r>
              <a:rPr lang="en-US" sz="3000" dirty="0">
                <a:latin typeface="Times New Roman" panose="02020603050405020304" pitchFamily="18" charset="0"/>
                <a:cs typeface="Times New Roman" panose="02020603050405020304" pitchFamily="18" charset="0"/>
              </a:rPr>
              <a:t>Hospital readmissions for diabetes are costly and often preventable. Combining patient-level and hospital-level data helps identify high-risk patients and underperforming hospitals. This project analyzes both datasets to uncover patterns, model readmission risks, and guide targeted interventions.</a:t>
            </a:r>
            <a:endParaRPr lang="en-US" sz="3000" dirty="0"/>
          </a:p>
        </p:txBody>
      </p:sp>
      <p:sp>
        <p:nvSpPr>
          <p:cNvPr id="50" name="TextBox 49">
            <a:extLst>
              <a:ext uri="{FF2B5EF4-FFF2-40B4-BE49-F238E27FC236}">
                <a16:creationId xmlns:a16="http://schemas.microsoft.com/office/drawing/2014/main" id="{44A66368-5203-5D75-FF08-CD0732AB327B}"/>
              </a:ext>
            </a:extLst>
          </p:cNvPr>
          <p:cNvSpPr txBox="1"/>
          <p:nvPr/>
        </p:nvSpPr>
        <p:spPr>
          <a:xfrm>
            <a:off x="1130859" y="17784818"/>
            <a:ext cx="7375547"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Diabetes Dataset</a:t>
            </a:r>
          </a:p>
        </p:txBody>
      </p:sp>
      <p:sp>
        <p:nvSpPr>
          <p:cNvPr id="51" name="TextBox 50">
            <a:extLst>
              <a:ext uri="{FF2B5EF4-FFF2-40B4-BE49-F238E27FC236}">
                <a16:creationId xmlns:a16="http://schemas.microsoft.com/office/drawing/2014/main" id="{39C0DFE4-AF1D-1696-A900-C372246CA2A5}"/>
              </a:ext>
            </a:extLst>
          </p:cNvPr>
          <p:cNvSpPr txBox="1"/>
          <p:nvPr/>
        </p:nvSpPr>
        <p:spPr>
          <a:xfrm>
            <a:off x="890559" y="6526578"/>
            <a:ext cx="17930840" cy="1005840"/>
          </a:xfrm>
          <a:prstGeom prst="rect">
            <a:avLst/>
          </a:prstGeom>
          <a:solidFill>
            <a:schemeClr val="accent1">
              <a:lumMod val="75000"/>
            </a:schemeClr>
          </a:solidFill>
          <a:ln>
            <a:solidFill>
              <a:schemeClr val="accent1">
                <a:lumMod val="75000"/>
              </a:schemeClr>
            </a:solidFill>
          </a:ln>
        </p:spPr>
        <p:txBody>
          <a:bodyPr wrap="square" rtlCol="0">
            <a:spAutoFit/>
          </a:bodyPr>
          <a:lstStyle/>
          <a:p>
            <a:pPr algn="ctr"/>
            <a:r>
              <a:rPr lang="en-US" sz="4400" b="1" dirty="0">
                <a:solidFill>
                  <a:schemeClr val="bg2"/>
                </a:solidFill>
                <a:latin typeface="Times New Roman" panose="02020603050405020304" pitchFamily="18" charset="0"/>
                <a:cs typeface="Times New Roman" panose="02020603050405020304" pitchFamily="18" charset="0"/>
              </a:rPr>
              <a:t>Objective</a:t>
            </a:r>
          </a:p>
          <a:p>
            <a:pPr algn="ctr"/>
            <a:endParaRPr lang="en-US" sz="4000" dirty="0">
              <a:solidFill>
                <a:schemeClr val="bg2"/>
              </a:solidFill>
            </a:endParaRPr>
          </a:p>
        </p:txBody>
      </p:sp>
      <p:sp>
        <p:nvSpPr>
          <p:cNvPr id="52" name="TextBox 51">
            <a:extLst>
              <a:ext uri="{FF2B5EF4-FFF2-40B4-BE49-F238E27FC236}">
                <a16:creationId xmlns:a16="http://schemas.microsoft.com/office/drawing/2014/main" id="{96FD311D-3928-2CB7-EF9F-A0B892261AED}"/>
              </a:ext>
            </a:extLst>
          </p:cNvPr>
          <p:cNvSpPr txBox="1"/>
          <p:nvPr/>
        </p:nvSpPr>
        <p:spPr>
          <a:xfrm>
            <a:off x="890559" y="9914998"/>
            <a:ext cx="17991404" cy="1005840"/>
          </a:xfrm>
          <a:prstGeom prst="rect">
            <a:avLst/>
          </a:prstGeom>
          <a:solidFill>
            <a:schemeClr val="accent1">
              <a:lumMod val="75000"/>
            </a:schemeClr>
          </a:solidFill>
          <a:ln>
            <a:solidFill>
              <a:schemeClr val="accent1">
                <a:lumMod val="75000"/>
              </a:schemeClr>
            </a:solidFill>
          </a:ln>
        </p:spPr>
        <p:txBody>
          <a:bodyPr wrap="square" rtlCol="0">
            <a:spAutoFit/>
          </a:bodyPr>
          <a:lstStyle/>
          <a:p>
            <a:pPr algn="ctr"/>
            <a:r>
              <a:rPr lang="en-US" sz="4400" b="1" dirty="0">
                <a:solidFill>
                  <a:schemeClr val="bg2"/>
                </a:solidFill>
                <a:latin typeface="Times New Roman" panose="02020603050405020304" pitchFamily="18" charset="0"/>
                <a:cs typeface="Times New Roman" panose="02020603050405020304" pitchFamily="18" charset="0"/>
              </a:rPr>
              <a:t>Data Overview</a:t>
            </a:r>
          </a:p>
          <a:p>
            <a:pPr algn="ctr"/>
            <a:endParaRPr lang="en-US" sz="4000" dirty="0">
              <a:solidFill>
                <a:schemeClr val="bg2"/>
              </a:solidFill>
            </a:endParaRPr>
          </a:p>
        </p:txBody>
      </p:sp>
      <p:sp>
        <p:nvSpPr>
          <p:cNvPr id="53" name="TextBox 52">
            <a:extLst>
              <a:ext uri="{FF2B5EF4-FFF2-40B4-BE49-F238E27FC236}">
                <a16:creationId xmlns:a16="http://schemas.microsoft.com/office/drawing/2014/main" id="{C7B26D6A-12E8-04A6-BECE-3483937682E5}"/>
              </a:ext>
            </a:extLst>
          </p:cNvPr>
          <p:cNvSpPr txBox="1"/>
          <p:nvPr/>
        </p:nvSpPr>
        <p:spPr>
          <a:xfrm>
            <a:off x="890559" y="16811235"/>
            <a:ext cx="17969152" cy="769441"/>
          </a:xfrm>
          <a:prstGeom prst="rect">
            <a:avLst/>
          </a:prstGeom>
          <a:solidFill>
            <a:schemeClr val="accent1">
              <a:lumMod val="75000"/>
            </a:schemeClr>
          </a:solidFill>
          <a:ln>
            <a:solidFill>
              <a:schemeClr val="accent1">
                <a:lumMod val="75000"/>
              </a:schemeClr>
            </a:solidFill>
          </a:ln>
        </p:spPr>
        <p:txBody>
          <a:bodyPr wrap="square" rtlCol="0">
            <a:spAutoFit/>
          </a:bodyPr>
          <a:lstStyle/>
          <a:p>
            <a:pPr algn="ctr"/>
            <a:r>
              <a:rPr lang="en-US" sz="4400" b="1" dirty="0">
                <a:solidFill>
                  <a:schemeClr val="bg2"/>
                </a:solidFill>
                <a:latin typeface="Times New Roman" panose="02020603050405020304" pitchFamily="18" charset="0"/>
                <a:cs typeface="Times New Roman" panose="02020603050405020304" pitchFamily="18" charset="0"/>
              </a:rPr>
              <a:t>EDA Highlights</a:t>
            </a:r>
            <a:endParaRPr lang="en-US" sz="4000" dirty="0">
              <a:solidFill>
                <a:schemeClr val="bg2"/>
              </a:solidFill>
            </a:endParaRPr>
          </a:p>
        </p:txBody>
      </p:sp>
      <p:sp>
        <p:nvSpPr>
          <p:cNvPr id="55" name="TextBox 54">
            <a:extLst>
              <a:ext uri="{FF2B5EF4-FFF2-40B4-BE49-F238E27FC236}">
                <a16:creationId xmlns:a16="http://schemas.microsoft.com/office/drawing/2014/main" id="{F3B9F4C0-49AA-DE95-9B9D-79CD8279B28D}"/>
              </a:ext>
            </a:extLst>
          </p:cNvPr>
          <p:cNvSpPr txBox="1"/>
          <p:nvPr/>
        </p:nvSpPr>
        <p:spPr>
          <a:xfrm>
            <a:off x="22213021" y="3152664"/>
            <a:ext cx="21054582" cy="1005840"/>
          </a:xfrm>
          <a:prstGeom prst="rect">
            <a:avLst/>
          </a:prstGeom>
          <a:solidFill>
            <a:schemeClr val="accent1">
              <a:lumMod val="75000"/>
            </a:schemeClr>
          </a:solidFill>
          <a:ln>
            <a:solidFill>
              <a:schemeClr val="accent1">
                <a:lumMod val="75000"/>
              </a:schemeClr>
            </a:solidFill>
          </a:ln>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US" sz="4400" b="1" dirty="0">
                <a:solidFill>
                  <a:schemeClr val="bg2"/>
                </a:solidFill>
                <a:latin typeface="Times New Roman" panose="02020603050405020304" pitchFamily="18" charset="0"/>
                <a:cs typeface="Times New Roman" panose="02020603050405020304" pitchFamily="18" charset="0"/>
              </a:rPr>
              <a:t>Models</a:t>
            </a:r>
            <a:br>
              <a:rPr lang="en-US" sz="4400" dirty="0">
                <a:solidFill>
                  <a:schemeClr val="bg2"/>
                </a:solidFill>
                <a:latin typeface="Times New Roman" panose="02020603050405020304" pitchFamily="18" charset="0"/>
                <a:cs typeface="Times New Roman" panose="02020603050405020304" pitchFamily="18" charset="0"/>
              </a:rPr>
            </a:br>
            <a:endParaRPr lang="en-US" sz="3200" dirty="0">
              <a:solidFill>
                <a:schemeClr val="bg2"/>
              </a:solidFill>
              <a:latin typeface="Times New Roman" panose="02020603050405020304" pitchFamily="18" charset="0"/>
              <a:cs typeface="Times New Roman" panose="02020603050405020304" pitchFamily="18" charset="0"/>
            </a:endParaRPr>
          </a:p>
        </p:txBody>
      </p:sp>
      <p:sp>
        <p:nvSpPr>
          <p:cNvPr id="57" name="TextBox 56">
            <a:extLst>
              <a:ext uri="{FF2B5EF4-FFF2-40B4-BE49-F238E27FC236}">
                <a16:creationId xmlns:a16="http://schemas.microsoft.com/office/drawing/2014/main" id="{DCCE4174-BC7B-49D7-EC8A-2DBD940CF092}"/>
              </a:ext>
            </a:extLst>
          </p:cNvPr>
          <p:cNvSpPr txBox="1"/>
          <p:nvPr/>
        </p:nvSpPr>
        <p:spPr>
          <a:xfrm>
            <a:off x="22795804" y="13154049"/>
            <a:ext cx="15118291" cy="523220"/>
          </a:xfrm>
          <a:prstGeom prst="rect">
            <a:avLst/>
          </a:prstGeom>
          <a:noFill/>
        </p:spPr>
        <p:txBody>
          <a:bodyPr wrap="square" rtlCol="0">
            <a:spAutoFit/>
          </a:bodyPr>
          <a:lstStyle/>
          <a:p>
            <a:pPr algn="ctr"/>
            <a:r>
              <a:rPr lang="en-US" sz="2800" dirty="0"/>
              <a:t>Fig 1.3 Heat Map Comparison of Diabetes Data set Model</a:t>
            </a:r>
          </a:p>
        </p:txBody>
      </p:sp>
      <p:sp>
        <p:nvSpPr>
          <p:cNvPr id="58" name="TextBox 57">
            <a:extLst>
              <a:ext uri="{FF2B5EF4-FFF2-40B4-BE49-F238E27FC236}">
                <a16:creationId xmlns:a16="http://schemas.microsoft.com/office/drawing/2014/main" id="{BD29F396-10CD-4143-875F-E35141C322F4}"/>
              </a:ext>
            </a:extLst>
          </p:cNvPr>
          <p:cNvSpPr txBox="1"/>
          <p:nvPr/>
        </p:nvSpPr>
        <p:spPr>
          <a:xfrm>
            <a:off x="22270487" y="22498594"/>
            <a:ext cx="11284193" cy="523220"/>
          </a:xfrm>
          <a:prstGeom prst="rect">
            <a:avLst/>
          </a:prstGeom>
          <a:noFill/>
        </p:spPr>
        <p:txBody>
          <a:bodyPr wrap="square" rtlCol="0">
            <a:spAutoFit/>
          </a:bodyPr>
          <a:lstStyle/>
          <a:p>
            <a:pPr algn="ctr"/>
            <a:r>
              <a:rPr lang="en-US" sz="2800" dirty="0"/>
              <a:t>Fig 2.2 ROC curve for Hospital Dataset Test data </a:t>
            </a:r>
          </a:p>
        </p:txBody>
      </p:sp>
      <p:sp>
        <p:nvSpPr>
          <p:cNvPr id="59" name="TextBox 58">
            <a:extLst>
              <a:ext uri="{FF2B5EF4-FFF2-40B4-BE49-F238E27FC236}">
                <a16:creationId xmlns:a16="http://schemas.microsoft.com/office/drawing/2014/main" id="{B0B7ECDB-694E-6DFF-CCAC-B6B48D98FF2F}"/>
              </a:ext>
            </a:extLst>
          </p:cNvPr>
          <p:cNvSpPr txBox="1"/>
          <p:nvPr/>
        </p:nvSpPr>
        <p:spPr>
          <a:xfrm>
            <a:off x="37576808" y="19708134"/>
            <a:ext cx="2776705" cy="584775"/>
          </a:xfrm>
          <a:prstGeom prst="rect">
            <a:avLst/>
          </a:prstGeom>
          <a:noFill/>
        </p:spPr>
        <p:txBody>
          <a:bodyPr wrap="square" rtlCol="0">
            <a:spAutoFit/>
          </a:bodyPr>
          <a:lstStyle/>
          <a:p>
            <a:r>
              <a:rPr lang="en-US" sz="3200" b="1" dirty="0"/>
              <a:t>Table 2.1</a:t>
            </a:r>
          </a:p>
        </p:txBody>
      </p:sp>
      <p:sp>
        <p:nvSpPr>
          <p:cNvPr id="61" name="TextBox 60">
            <a:extLst>
              <a:ext uri="{FF2B5EF4-FFF2-40B4-BE49-F238E27FC236}">
                <a16:creationId xmlns:a16="http://schemas.microsoft.com/office/drawing/2014/main" id="{AF22CBB4-2D5D-2069-8F78-F84D4DD72610}"/>
              </a:ext>
            </a:extLst>
          </p:cNvPr>
          <p:cNvSpPr txBox="1"/>
          <p:nvPr/>
        </p:nvSpPr>
        <p:spPr>
          <a:xfrm>
            <a:off x="22270487" y="23714141"/>
            <a:ext cx="20997115" cy="1005840"/>
          </a:xfrm>
          <a:prstGeom prst="rect">
            <a:avLst/>
          </a:prstGeom>
          <a:solidFill>
            <a:schemeClr val="accent1">
              <a:lumMod val="75000"/>
            </a:schemeClr>
          </a:solidFill>
          <a:ln>
            <a:solidFill>
              <a:schemeClr val="accent1">
                <a:lumMod val="75000"/>
              </a:schemeClr>
            </a:solidFill>
          </a:ln>
        </p:spPr>
        <p:txBody>
          <a:bodyPr wrap="square" rtlCol="0">
            <a:spAutoFit/>
          </a:bodyPr>
          <a:lstStyle/>
          <a:p>
            <a:pPr algn="ctr"/>
            <a:r>
              <a:rPr lang="en-US" sz="4400" b="1" dirty="0">
                <a:solidFill>
                  <a:schemeClr val="bg2"/>
                </a:solidFill>
                <a:latin typeface="Times New Roman" panose="02020603050405020304" pitchFamily="18" charset="0"/>
                <a:cs typeface="Times New Roman" panose="02020603050405020304" pitchFamily="18" charset="0"/>
              </a:rPr>
              <a:t>Findings &amp; Synthesis</a:t>
            </a:r>
          </a:p>
          <a:p>
            <a:pPr algn="ctr"/>
            <a:endParaRPr lang="en-US" sz="4400" b="1" dirty="0">
              <a:solidFill>
                <a:schemeClr val="bg2"/>
              </a:solidFill>
              <a:latin typeface="Times New Roman" panose="02020603050405020304" pitchFamily="18" charset="0"/>
              <a:cs typeface="Times New Roman" panose="02020603050405020304" pitchFamily="18" charset="0"/>
            </a:endParaRPr>
          </a:p>
          <a:p>
            <a:pPr algn="ctr"/>
            <a:endParaRPr lang="en-US" sz="4000" dirty="0">
              <a:solidFill>
                <a:schemeClr val="bg2"/>
              </a:solidFill>
            </a:endParaRPr>
          </a:p>
        </p:txBody>
      </p:sp>
      <p:sp>
        <p:nvSpPr>
          <p:cNvPr id="62" name="TextBox 61">
            <a:extLst>
              <a:ext uri="{FF2B5EF4-FFF2-40B4-BE49-F238E27FC236}">
                <a16:creationId xmlns:a16="http://schemas.microsoft.com/office/drawing/2014/main" id="{106350AD-C666-5119-0B16-D009FCD60C64}"/>
              </a:ext>
            </a:extLst>
          </p:cNvPr>
          <p:cNvSpPr txBox="1"/>
          <p:nvPr/>
        </p:nvSpPr>
        <p:spPr>
          <a:xfrm>
            <a:off x="22316227" y="28930948"/>
            <a:ext cx="20997115" cy="769441"/>
          </a:xfrm>
          <a:prstGeom prst="rect">
            <a:avLst/>
          </a:prstGeom>
          <a:solidFill>
            <a:schemeClr val="accent1">
              <a:lumMod val="75000"/>
            </a:schemeClr>
          </a:solidFill>
          <a:ln>
            <a:solidFill>
              <a:schemeClr val="accent1">
                <a:lumMod val="75000"/>
              </a:schemeClr>
            </a:solidFill>
          </a:ln>
        </p:spPr>
        <p:txBody>
          <a:bodyPr wrap="square" rtlCol="0">
            <a:spAutoFit/>
          </a:bodyPr>
          <a:lstStyle/>
          <a:p>
            <a:pPr algn="ctr"/>
            <a:r>
              <a:rPr lang="en-US" sz="4400" b="1" dirty="0">
                <a:solidFill>
                  <a:schemeClr val="bg2"/>
                </a:solidFill>
                <a:latin typeface="Times New Roman" panose="02020603050405020304" pitchFamily="18" charset="0"/>
                <a:cs typeface="Times New Roman" panose="02020603050405020304" pitchFamily="18" charset="0"/>
              </a:rPr>
              <a:t>Recommendations</a:t>
            </a:r>
          </a:p>
        </p:txBody>
      </p:sp>
    </p:spTree>
    <p:extLst>
      <p:ext uri="{BB962C8B-B14F-4D97-AF65-F5344CB8AC3E}">
        <p14:creationId xmlns:p14="http://schemas.microsoft.com/office/powerpoint/2010/main" val="215988295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861</TotalTime>
  <Words>513</Words>
  <Application>Microsoft Office PowerPoint</Application>
  <PresentationFormat>Custom</PresentationFormat>
  <Paragraphs>67</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Aptos Display</vt:lpstr>
      <vt:lpstr>Aptos Narrow</vt:lpstr>
      <vt:lpstr>Arial</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Alex Nite</dc:creator>
  <cp:lastModifiedBy>Alex Nite</cp:lastModifiedBy>
  <cp:revision>2</cp:revision>
  <dcterms:created xsi:type="dcterms:W3CDTF">2025-12-01T23:35:29Z</dcterms:created>
  <dcterms:modified xsi:type="dcterms:W3CDTF">2025-12-02T13:56:59Z</dcterms:modified>
</cp:coreProperties>
</file>